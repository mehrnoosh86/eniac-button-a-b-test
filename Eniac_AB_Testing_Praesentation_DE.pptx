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15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CTR (höher = besser)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 (höher = besser)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DC2626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DC2626"/>
              </a:solidFill>
            </c:spPr>
          </c:dPt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2.02</c:v>
                </c:pt>
                <c:pt idx="1">
                  <c:v>1.14</c:v>
                </c:pt>
                <c:pt idx="2">
                  <c:v>2.12</c:v>
                </c:pt>
                <c:pt idx="3">
                  <c:v>0.76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Drop-off-Rate (niedriger = besser)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Drop-off-Rate (niedriger = besser)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DC2626"/>
              </a:solidFill>
            </c:spPr>
          </c:dPt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C</c:v>
                </c:pt>
                <c:pt idx="2">
                  <c:v>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71</c:v>
                </c:pt>
                <c:pt idx="2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Homepage-Return (niedriger = besser)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Homepage-Return (niedriger = besser)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DC2626"/>
              </a:solidFill>
            </c:spPr>
          </c:dPt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C</c:v>
                </c:pt>
                <c:pt idx="2">
                  <c:v>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5.3</c:v>
                </c:pt>
                <c:pt idx="1">
                  <c:v>4.7</c:v>
                </c:pt>
                <c:pt idx="2">
                  <c:v>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Abgeschlossene Conversions pro 1.000 Visits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Abgeschlossene Conversions pro 1.000 Visits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DC2626"/>
              </a:solidFill>
            </c:spPr>
          </c:dPt>
          <c:cat>
            <c:strRef>
              <c:f>Sheet1!$A$2:$A$4</c:f>
              <c:strCache>
                <c:ptCount val="3"/>
                <c:pt idx="0">
                  <c:v>A • weiß SHOP NOW</c:v>
                </c:pt>
                <c:pt idx="1">
                  <c:v>C • weiß SEE DEALS</c:v>
                </c:pt>
                <c:pt idx="2">
                  <c:v>D • rot SEE DEALS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7.68</c:v>
                </c:pt>
                <c:pt idx="1">
                  <c:v>6.14</c:v>
                </c:pt>
                <c:pt idx="2">
                  <c:v>2.37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0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de-DE"/>
    </a:p>
  </c:txPr>
  <c:externalData r:id="rId1">
    <c:autoUpdate val="0"/>
  </c:externalData>
</c:chartSpace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BB24D-1688-4A83-A982-E99F759B2C1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1AC81137-E937-4C91-9E4D-CFA35FDEF6D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Die vier Versionen haben nicht die gleiche Klickrate.</a:t>
          </a:r>
        </a:p>
      </dgm:t>
    </dgm:pt>
    <dgm:pt modelId="{E2124A49-2612-4608-94FE-75D3CF947739}" type="parTrans" cxnId="{522EFBE7-0B67-427E-911C-FA54BB7C37F3}">
      <dgm:prSet/>
      <dgm:spPr/>
      <dgm:t>
        <a:bodyPr/>
        <a:lstStyle/>
        <a:p>
          <a:endParaRPr lang="de-DE"/>
        </a:p>
      </dgm:t>
    </dgm:pt>
    <dgm:pt modelId="{C25A6901-3332-4841-8B9C-C3CC0EF51150}" type="sibTrans" cxnId="{522EFBE7-0B67-427E-911C-FA54BB7C37F3}">
      <dgm:prSet/>
      <dgm:spPr/>
      <dgm:t>
        <a:bodyPr/>
        <a:lstStyle/>
        <a:p>
          <a:pPr>
            <a:lnSpc>
              <a:spcPct val="100000"/>
            </a:lnSpc>
          </a:pPr>
          <a:endParaRPr lang="de-DE"/>
        </a:p>
      </dgm:t>
    </dgm:pt>
    <dgm:pt modelId="{745B72B6-E16C-4DC3-94AE-4DB402446E7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Version C hat die höchste beobachtete CTR, der Vorsprung vor A ist aber nicht signifikant.</a:t>
          </a:r>
        </a:p>
      </dgm:t>
    </dgm:pt>
    <dgm:pt modelId="{9FEC592A-8183-4C23-BBAF-8866A31B06A0}" type="parTrans" cxnId="{DB2047BA-1187-4827-AF81-730ED7123C59}">
      <dgm:prSet/>
      <dgm:spPr/>
      <dgm:t>
        <a:bodyPr/>
        <a:lstStyle/>
        <a:p>
          <a:endParaRPr lang="de-DE"/>
        </a:p>
      </dgm:t>
    </dgm:pt>
    <dgm:pt modelId="{82C7AD91-BE99-4733-92C3-62552D738742}" type="sibTrans" cxnId="{DB2047BA-1187-4827-AF81-730ED7123C59}">
      <dgm:prSet/>
      <dgm:spPr/>
      <dgm:t>
        <a:bodyPr/>
        <a:lstStyle/>
        <a:p>
          <a:pPr>
            <a:lnSpc>
              <a:spcPct val="100000"/>
            </a:lnSpc>
          </a:pPr>
          <a:endParaRPr lang="de-DE"/>
        </a:p>
      </dgm:t>
    </dgm:pt>
    <dgm:pt modelId="{181A4BFE-6A68-4749-9C46-C4B76D7A80A5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Beide roten Varianten (B und D) liegen deutlich unter den weißen.</a:t>
          </a:r>
        </a:p>
      </dgm:t>
    </dgm:pt>
    <dgm:pt modelId="{7CF85741-3275-473B-BEFC-955B4A76DA4F}" type="parTrans" cxnId="{CBEC4BAD-6A3B-4158-81C4-3A1595688984}">
      <dgm:prSet/>
      <dgm:spPr/>
      <dgm:t>
        <a:bodyPr/>
        <a:lstStyle/>
        <a:p>
          <a:endParaRPr lang="de-DE"/>
        </a:p>
      </dgm:t>
    </dgm:pt>
    <dgm:pt modelId="{BCA5B54A-A95C-4B46-8FD5-0D9BABFF2EBB}" type="sibTrans" cxnId="{CBEC4BAD-6A3B-4158-81C4-3A1595688984}">
      <dgm:prSet/>
      <dgm:spPr/>
      <dgm:t>
        <a:bodyPr/>
        <a:lstStyle/>
        <a:p>
          <a:pPr>
            <a:lnSpc>
              <a:spcPct val="100000"/>
            </a:lnSpc>
          </a:pPr>
          <a:endParaRPr lang="de-DE"/>
        </a:p>
      </dgm:t>
    </dgm:pt>
    <dgm:pt modelId="{ABF6BC8B-EA81-4E9C-B0F2-3A653B686BBC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Version A hat die niedrigste Drop-off-Rate (~62 % vs. ~71 % bei C) und ist damit die Empfehlung.</a:t>
          </a:r>
        </a:p>
      </dgm:t>
    </dgm:pt>
    <dgm:pt modelId="{BAA57687-8D35-40AF-BF67-92C432C502A2}" type="parTrans" cxnId="{3C87D147-D373-4044-8013-EE67112C5C95}">
      <dgm:prSet/>
      <dgm:spPr/>
      <dgm:t>
        <a:bodyPr/>
        <a:lstStyle/>
        <a:p>
          <a:endParaRPr lang="de-DE"/>
        </a:p>
      </dgm:t>
    </dgm:pt>
    <dgm:pt modelId="{4BEDDD09-F52B-41A7-BFE2-16C2156D2A5F}" type="sibTrans" cxnId="{3C87D147-D373-4044-8013-EE67112C5C95}">
      <dgm:prSet/>
      <dgm:spPr/>
      <dgm:t>
        <a:bodyPr/>
        <a:lstStyle/>
        <a:p>
          <a:endParaRPr lang="de-DE"/>
        </a:p>
      </dgm:t>
    </dgm:pt>
    <dgm:pt modelId="{852465C9-53D9-4EBC-A274-16C54966D80A}" type="pres">
      <dgm:prSet presAssocID="{1A4BB24D-1688-4A83-A982-E99F759B2C11}" presName="root" presStyleCnt="0">
        <dgm:presLayoutVars>
          <dgm:dir/>
          <dgm:resizeHandles val="exact"/>
        </dgm:presLayoutVars>
      </dgm:prSet>
      <dgm:spPr/>
    </dgm:pt>
    <dgm:pt modelId="{CB287C8F-BEBF-4DFD-BE67-5E254326FCBB}" type="pres">
      <dgm:prSet presAssocID="{1A4BB24D-1688-4A83-A982-E99F759B2C11}" presName="container" presStyleCnt="0">
        <dgm:presLayoutVars>
          <dgm:dir/>
          <dgm:resizeHandles val="exact"/>
        </dgm:presLayoutVars>
      </dgm:prSet>
      <dgm:spPr/>
    </dgm:pt>
    <dgm:pt modelId="{481E06E5-71BE-4C4B-8E71-8F00828D55C9}" type="pres">
      <dgm:prSet presAssocID="{1AC81137-E937-4C91-9E4D-CFA35FDEF6DE}" presName="compNode" presStyleCnt="0"/>
      <dgm:spPr/>
    </dgm:pt>
    <dgm:pt modelId="{3C9F9E23-A4EA-404E-820A-2C64E41FCB42}" type="pres">
      <dgm:prSet presAssocID="{1AC81137-E937-4C91-9E4D-CFA35FDEF6DE}" presName="iconBgRect" presStyleLbl="bgShp" presStyleIdx="0" presStyleCnt="4"/>
      <dgm:spPr/>
    </dgm:pt>
    <dgm:pt modelId="{56895822-9414-4492-80F7-C104EB72089F}" type="pres">
      <dgm:prSet presAssocID="{1AC81137-E937-4C91-9E4D-CFA35FDEF6D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005F0E5-48A1-4708-AD08-6CE1DD79FDA0}" type="pres">
      <dgm:prSet presAssocID="{1AC81137-E937-4C91-9E4D-CFA35FDEF6DE}" presName="spaceRect" presStyleCnt="0"/>
      <dgm:spPr/>
    </dgm:pt>
    <dgm:pt modelId="{2CC76586-8D8F-4A31-B49E-620403EFD2B3}" type="pres">
      <dgm:prSet presAssocID="{1AC81137-E937-4C91-9E4D-CFA35FDEF6DE}" presName="textRect" presStyleLbl="revTx" presStyleIdx="0" presStyleCnt="4">
        <dgm:presLayoutVars>
          <dgm:chMax val="1"/>
          <dgm:chPref val="1"/>
        </dgm:presLayoutVars>
      </dgm:prSet>
      <dgm:spPr/>
    </dgm:pt>
    <dgm:pt modelId="{BA48B29E-9F4B-4779-B721-F81708F0EA94}" type="pres">
      <dgm:prSet presAssocID="{C25A6901-3332-4841-8B9C-C3CC0EF51150}" presName="sibTrans" presStyleLbl="sibTrans2D1" presStyleIdx="0" presStyleCnt="0"/>
      <dgm:spPr/>
    </dgm:pt>
    <dgm:pt modelId="{24CFCE45-B195-4637-95A2-45D614931368}" type="pres">
      <dgm:prSet presAssocID="{745B72B6-E16C-4DC3-94AE-4DB402446E7E}" presName="compNode" presStyleCnt="0"/>
      <dgm:spPr/>
    </dgm:pt>
    <dgm:pt modelId="{CDAA276D-E492-43D5-B702-BA67797F15A4}" type="pres">
      <dgm:prSet presAssocID="{745B72B6-E16C-4DC3-94AE-4DB402446E7E}" presName="iconBgRect" presStyleLbl="bgShp" presStyleIdx="1" presStyleCnt="4"/>
      <dgm:spPr/>
    </dgm:pt>
    <dgm:pt modelId="{3BED0B1C-2C6D-47D6-ACEF-0EA5971E8B23}" type="pres">
      <dgm:prSet presAssocID="{745B72B6-E16C-4DC3-94AE-4DB402446E7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A06FA4CB-EFBE-48E4-9811-1859BCC83795}" type="pres">
      <dgm:prSet presAssocID="{745B72B6-E16C-4DC3-94AE-4DB402446E7E}" presName="spaceRect" presStyleCnt="0"/>
      <dgm:spPr/>
    </dgm:pt>
    <dgm:pt modelId="{81BBE725-0AA7-4664-8944-77254DC78CAC}" type="pres">
      <dgm:prSet presAssocID="{745B72B6-E16C-4DC3-94AE-4DB402446E7E}" presName="textRect" presStyleLbl="revTx" presStyleIdx="1" presStyleCnt="4">
        <dgm:presLayoutVars>
          <dgm:chMax val="1"/>
          <dgm:chPref val="1"/>
        </dgm:presLayoutVars>
      </dgm:prSet>
      <dgm:spPr/>
    </dgm:pt>
    <dgm:pt modelId="{529991D0-0337-463A-9D54-0E5108C8AD0A}" type="pres">
      <dgm:prSet presAssocID="{82C7AD91-BE99-4733-92C3-62552D738742}" presName="sibTrans" presStyleLbl="sibTrans2D1" presStyleIdx="0" presStyleCnt="0"/>
      <dgm:spPr/>
    </dgm:pt>
    <dgm:pt modelId="{5979F92C-970C-455C-881E-511CDBFBF7A9}" type="pres">
      <dgm:prSet presAssocID="{181A4BFE-6A68-4749-9C46-C4B76D7A80A5}" presName="compNode" presStyleCnt="0"/>
      <dgm:spPr/>
    </dgm:pt>
    <dgm:pt modelId="{FF90C64C-8B7E-4C53-ABBD-C86543B02506}" type="pres">
      <dgm:prSet presAssocID="{181A4BFE-6A68-4749-9C46-C4B76D7A80A5}" presName="iconBgRect" presStyleLbl="bgShp" presStyleIdx="2" presStyleCnt="4"/>
      <dgm:spPr/>
    </dgm:pt>
    <dgm:pt modelId="{ACD7CEB5-D84B-4E9A-B7A8-8FF51D60474B}" type="pres">
      <dgm:prSet presAssocID="{181A4BFE-6A68-4749-9C46-C4B76D7A80A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FEDEA960-ACB0-4F6A-9091-548E129D37B5}" type="pres">
      <dgm:prSet presAssocID="{181A4BFE-6A68-4749-9C46-C4B76D7A80A5}" presName="spaceRect" presStyleCnt="0"/>
      <dgm:spPr/>
    </dgm:pt>
    <dgm:pt modelId="{BCF777B3-AD0D-4EFB-9ED7-2046AFDB6978}" type="pres">
      <dgm:prSet presAssocID="{181A4BFE-6A68-4749-9C46-C4B76D7A80A5}" presName="textRect" presStyleLbl="revTx" presStyleIdx="2" presStyleCnt="4">
        <dgm:presLayoutVars>
          <dgm:chMax val="1"/>
          <dgm:chPref val="1"/>
        </dgm:presLayoutVars>
      </dgm:prSet>
      <dgm:spPr/>
    </dgm:pt>
    <dgm:pt modelId="{4941EB8A-88EA-4343-8CDC-F6C2FAD380FC}" type="pres">
      <dgm:prSet presAssocID="{BCA5B54A-A95C-4B46-8FD5-0D9BABFF2EBB}" presName="sibTrans" presStyleLbl="sibTrans2D1" presStyleIdx="0" presStyleCnt="0"/>
      <dgm:spPr/>
    </dgm:pt>
    <dgm:pt modelId="{E0929C78-E0B3-44B5-964F-F676878733AE}" type="pres">
      <dgm:prSet presAssocID="{ABF6BC8B-EA81-4E9C-B0F2-3A653B686BBC}" presName="compNode" presStyleCnt="0"/>
      <dgm:spPr/>
    </dgm:pt>
    <dgm:pt modelId="{ACCBDC40-BF2C-493B-97FD-378C015CDC6A}" type="pres">
      <dgm:prSet presAssocID="{ABF6BC8B-EA81-4E9C-B0F2-3A653B686BBC}" presName="iconBgRect" presStyleLbl="bgShp" presStyleIdx="3" presStyleCnt="4"/>
      <dgm:spPr/>
    </dgm:pt>
    <dgm:pt modelId="{AC886667-5AF3-4190-9707-11AE3A8B5D2F}" type="pres">
      <dgm:prSet presAssocID="{ABF6BC8B-EA81-4E9C-B0F2-3A653B686B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471660E-EE44-4649-9DCB-5A2965FACD9D}" type="pres">
      <dgm:prSet presAssocID="{ABF6BC8B-EA81-4E9C-B0F2-3A653B686BBC}" presName="spaceRect" presStyleCnt="0"/>
      <dgm:spPr/>
    </dgm:pt>
    <dgm:pt modelId="{DE6429C4-9DEE-4B53-8DE5-D6F3E27C9FD1}" type="pres">
      <dgm:prSet presAssocID="{ABF6BC8B-EA81-4E9C-B0F2-3A653B686B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591C01C-5F3D-B143-BDC8-D3D00C8F9DC5}" type="presOf" srcId="{C25A6901-3332-4841-8B9C-C3CC0EF51150}" destId="{BA48B29E-9F4B-4779-B721-F81708F0EA94}" srcOrd="0" destOrd="0" presId="urn:microsoft.com/office/officeart/2018/2/layout/IconCircleList"/>
    <dgm:cxn modelId="{3E7E4521-843F-2A41-8B49-738161946678}" type="presOf" srcId="{1AC81137-E937-4C91-9E4D-CFA35FDEF6DE}" destId="{2CC76586-8D8F-4A31-B49E-620403EFD2B3}" srcOrd="0" destOrd="0" presId="urn:microsoft.com/office/officeart/2018/2/layout/IconCircleList"/>
    <dgm:cxn modelId="{4B2C203A-F455-C44A-A86C-41A9FDA857D0}" type="presOf" srcId="{BCA5B54A-A95C-4B46-8FD5-0D9BABFF2EBB}" destId="{4941EB8A-88EA-4343-8CDC-F6C2FAD380FC}" srcOrd="0" destOrd="0" presId="urn:microsoft.com/office/officeart/2018/2/layout/IconCircleList"/>
    <dgm:cxn modelId="{88491443-B66F-AD47-9E21-0EA8A9F4381A}" type="presOf" srcId="{745B72B6-E16C-4DC3-94AE-4DB402446E7E}" destId="{81BBE725-0AA7-4664-8944-77254DC78CAC}" srcOrd="0" destOrd="0" presId="urn:microsoft.com/office/officeart/2018/2/layout/IconCircleList"/>
    <dgm:cxn modelId="{20BE1743-CAB3-174D-9936-D7E139974029}" type="presOf" srcId="{181A4BFE-6A68-4749-9C46-C4B76D7A80A5}" destId="{BCF777B3-AD0D-4EFB-9ED7-2046AFDB6978}" srcOrd="0" destOrd="0" presId="urn:microsoft.com/office/officeart/2018/2/layout/IconCircleList"/>
    <dgm:cxn modelId="{3C87D147-D373-4044-8013-EE67112C5C95}" srcId="{1A4BB24D-1688-4A83-A982-E99F759B2C11}" destId="{ABF6BC8B-EA81-4E9C-B0F2-3A653B686BBC}" srcOrd="3" destOrd="0" parTransId="{BAA57687-8D35-40AF-BF67-92C432C502A2}" sibTransId="{4BEDDD09-F52B-41A7-BFE2-16C2156D2A5F}"/>
    <dgm:cxn modelId="{78FA1594-AE82-8A42-A1BD-6F0BCD9B2606}" type="presOf" srcId="{1A4BB24D-1688-4A83-A982-E99F759B2C11}" destId="{852465C9-53D9-4EBC-A274-16C54966D80A}" srcOrd="0" destOrd="0" presId="urn:microsoft.com/office/officeart/2018/2/layout/IconCircleList"/>
    <dgm:cxn modelId="{3BD9E99A-CF95-F643-A4E8-9AFC848FABBF}" type="presOf" srcId="{ABF6BC8B-EA81-4E9C-B0F2-3A653B686BBC}" destId="{DE6429C4-9DEE-4B53-8DE5-D6F3E27C9FD1}" srcOrd="0" destOrd="0" presId="urn:microsoft.com/office/officeart/2018/2/layout/IconCircleList"/>
    <dgm:cxn modelId="{CBEC4BAD-6A3B-4158-81C4-3A1595688984}" srcId="{1A4BB24D-1688-4A83-A982-E99F759B2C11}" destId="{181A4BFE-6A68-4749-9C46-C4B76D7A80A5}" srcOrd="2" destOrd="0" parTransId="{7CF85741-3275-473B-BEFC-955B4A76DA4F}" sibTransId="{BCA5B54A-A95C-4B46-8FD5-0D9BABFF2EBB}"/>
    <dgm:cxn modelId="{DB2047BA-1187-4827-AF81-730ED7123C59}" srcId="{1A4BB24D-1688-4A83-A982-E99F759B2C11}" destId="{745B72B6-E16C-4DC3-94AE-4DB402446E7E}" srcOrd="1" destOrd="0" parTransId="{9FEC592A-8183-4C23-BBAF-8866A31B06A0}" sibTransId="{82C7AD91-BE99-4733-92C3-62552D738742}"/>
    <dgm:cxn modelId="{240B64D2-3106-D64E-A539-6BBF325834CE}" type="presOf" srcId="{82C7AD91-BE99-4733-92C3-62552D738742}" destId="{529991D0-0337-463A-9D54-0E5108C8AD0A}" srcOrd="0" destOrd="0" presId="urn:microsoft.com/office/officeart/2018/2/layout/IconCircleList"/>
    <dgm:cxn modelId="{522EFBE7-0B67-427E-911C-FA54BB7C37F3}" srcId="{1A4BB24D-1688-4A83-A982-E99F759B2C11}" destId="{1AC81137-E937-4C91-9E4D-CFA35FDEF6DE}" srcOrd="0" destOrd="0" parTransId="{E2124A49-2612-4608-94FE-75D3CF947739}" sibTransId="{C25A6901-3332-4841-8B9C-C3CC0EF51150}"/>
    <dgm:cxn modelId="{9A94013C-B9DE-C141-9F3A-7D405571E531}" type="presParOf" srcId="{852465C9-53D9-4EBC-A274-16C54966D80A}" destId="{CB287C8F-BEBF-4DFD-BE67-5E254326FCBB}" srcOrd="0" destOrd="0" presId="urn:microsoft.com/office/officeart/2018/2/layout/IconCircleList"/>
    <dgm:cxn modelId="{7200D070-B469-8B44-BEC0-45B45732ED0B}" type="presParOf" srcId="{CB287C8F-BEBF-4DFD-BE67-5E254326FCBB}" destId="{481E06E5-71BE-4C4B-8E71-8F00828D55C9}" srcOrd="0" destOrd="0" presId="urn:microsoft.com/office/officeart/2018/2/layout/IconCircleList"/>
    <dgm:cxn modelId="{D8959D97-6E8A-EA40-8B2D-0B6175A22B75}" type="presParOf" srcId="{481E06E5-71BE-4C4B-8E71-8F00828D55C9}" destId="{3C9F9E23-A4EA-404E-820A-2C64E41FCB42}" srcOrd="0" destOrd="0" presId="urn:microsoft.com/office/officeart/2018/2/layout/IconCircleList"/>
    <dgm:cxn modelId="{AE9AA18B-DDB1-1241-86F5-7071F3C8E1E8}" type="presParOf" srcId="{481E06E5-71BE-4C4B-8E71-8F00828D55C9}" destId="{56895822-9414-4492-80F7-C104EB72089F}" srcOrd="1" destOrd="0" presId="urn:microsoft.com/office/officeart/2018/2/layout/IconCircleList"/>
    <dgm:cxn modelId="{72A48DE0-2DC9-D549-A6DB-D39A57036280}" type="presParOf" srcId="{481E06E5-71BE-4C4B-8E71-8F00828D55C9}" destId="{7005F0E5-48A1-4708-AD08-6CE1DD79FDA0}" srcOrd="2" destOrd="0" presId="urn:microsoft.com/office/officeart/2018/2/layout/IconCircleList"/>
    <dgm:cxn modelId="{598A2535-5203-9D49-9598-90447A569E7E}" type="presParOf" srcId="{481E06E5-71BE-4C4B-8E71-8F00828D55C9}" destId="{2CC76586-8D8F-4A31-B49E-620403EFD2B3}" srcOrd="3" destOrd="0" presId="urn:microsoft.com/office/officeart/2018/2/layout/IconCircleList"/>
    <dgm:cxn modelId="{42D30458-591E-F148-A951-912D0AD116C5}" type="presParOf" srcId="{CB287C8F-BEBF-4DFD-BE67-5E254326FCBB}" destId="{BA48B29E-9F4B-4779-B721-F81708F0EA94}" srcOrd="1" destOrd="0" presId="urn:microsoft.com/office/officeart/2018/2/layout/IconCircleList"/>
    <dgm:cxn modelId="{E2EC087E-7549-9541-865C-951E55C55BEE}" type="presParOf" srcId="{CB287C8F-BEBF-4DFD-BE67-5E254326FCBB}" destId="{24CFCE45-B195-4637-95A2-45D614931368}" srcOrd="2" destOrd="0" presId="urn:microsoft.com/office/officeart/2018/2/layout/IconCircleList"/>
    <dgm:cxn modelId="{DDE60AF6-58CA-9D4A-9D73-538F3E669275}" type="presParOf" srcId="{24CFCE45-B195-4637-95A2-45D614931368}" destId="{CDAA276D-E492-43D5-B702-BA67797F15A4}" srcOrd="0" destOrd="0" presId="urn:microsoft.com/office/officeart/2018/2/layout/IconCircleList"/>
    <dgm:cxn modelId="{03B42E5B-BAE6-6B41-BDE6-542D4612BABA}" type="presParOf" srcId="{24CFCE45-B195-4637-95A2-45D614931368}" destId="{3BED0B1C-2C6D-47D6-ACEF-0EA5971E8B23}" srcOrd="1" destOrd="0" presId="urn:microsoft.com/office/officeart/2018/2/layout/IconCircleList"/>
    <dgm:cxn modelId="{D47F5704-7697-194C-9F3F-5033C1AB81D9}" type="presParOf" srcId="{24CFCE45-B195-4637-95A2-45D614931368}" destId="{A06FA4CB-EFBE-48E4-9811-1859BCC83795}" srcOrd="2" destOrd="0" presId="urn:microsoft.com/office/officeart/2018/2/layout/IconCircleList"/>
    <dgm:cxn modelId="{1F82B271-B7F1-7843-B7B2-17B0EFF4FB40}" type="presParOf" srcId="{24CFCE45-B195-4637-95A2-45D614931368}" destId="{81BBE725-0AA7-4664-8944-77254DC78CAC}" srcOrd="3" destOrd="0" presId="urn:microsoft.com/office/officeart/2018/2/layout/IconCircleList"/>
    <dgm:cxn modelId="{DC64AFFF-2F14-814D-AC4E-3602CEAC0A88}" type="presParOf" srcId="{CB287C8F-BEBF-4DFD-BE67-5E254326FCBB}" destId="{529991D0-0337-463A-9D54-0E5108C8AD0A}" srcOrd="3" destOrd="0" presId="urn:microsoft.com/office/officeart/2018/2/layout/IconCircleList"/>
    <dgm:cxn modelId="{4E3D5AB4-6234-A141-95B4-F23713E59888}" type="presParOf" srcId="{CB287C8F-BEBF-4DFD-BE67-5E254326FCBB}" destId="{5979F92C-970C-455C-881E-511CDBFBF7A9}" srcOrd="4" destOrd="0" presId="urn:microsoft.com/office/officeart/2018/2/layout/IconCircleList"/>
    <dgm:cxn modelId="{F93A44E9-D5F8-6949-8B14-643CBDC278D9}" type="presParOf" srcId="{5979F92C-970C-455C-881E-511CDBFBF7A9}" destId="{FF90C64C-8B7E-4C53-ABBD-C86543B02506}" srcOrd="0" destOrd="0" presId="urn:microsoft.com/office/officeart/2018/2/layout/IconCircleList"/>
    <dgm:cxn modelId="{1F3DBC4B-1205-2744-91A3-0670D156CE1D}" type="presParOf" srcId="{5979F92C-970C-455C-881E-511CDBFBF7A9}" destId="{ACD7CEB5-D84B-4E9A-B7A8-8FF51D60474B}" srcOrd="1" destOrd="0" presId="urn:microsoft.com/office/officeart/2018/2/layout/IconCircleList"/>
    <dgm:cxn modelId="{C6811ED0-6258-1246-AAE2-603540C7BE14}" type="presParOf" srcId="{5979F92C-970C-455C-881E-511CDBFBF7A9}" destId="{FEDEA960-ACB0-4F6A-9091-548E129D37B5}" srcOrd="2" destOrd="0" presId="urn:microsoft.com/office/officeart/2018/2/layout/IconCircleList"/>
    <dgm:cxn modelId="{E46DA254-E0C3-D94F-9E8B-16AD50E735A7}" type="presParOf" srcId="{5979F92C-970C-455C-881E-511CDBFBF7A9}" destId="{BCF777B3-AD0D-4EFB-9ED7-2046AFDB6978}" srcOrd="3" destOrd="0" presId="urn:microsoft.com/office/officeart/2018/2/layout/IconCircleList"/>
    <dgm:cxn modelId="{9128E058-6816-EF4B-A63F-9CB9E337E1F8}" type="presParOf" srcId="{CB287C8F-BEBF-4DFD-BE67-5E254326FCBB}" destId="{4941EB8A-88EA-4343-8CDC-F6C2FAD380FC}" srcOrd="5" destOrd="0" presId="urn:microsoft.com/office/officeart/2018/2/layout/IconCircleList"/>
    <dgm:cxn modelId="{E023075C-CD29-D44D-B593-6D184429869B}" type="presParOf" srcId="{CB287C8F-BEBF-4DFD-BE67-5E254326FCBB}" destId="{E0929C78-E0B3-44B5-964F-F676878733AE}" srcOrd="6" destOrd="0" presId="urn:microsoft.com/office/officeart/2018/2/layout/IconCircleList"/>
    <dgm:cxn modelId="{5B4B08EC-7FF7-BF40-AD6B-933347C5C8C6}" type="presParOf" srcId="{E0929C78-E0B3-44B5-964F-F676878733AE}" destId="{ACCBDC40-BF2C-493B-97FD-378C015CDC6A}" srcOrd="0" destOrd="0" presId="urn:microsoft.com/office/officeart/2018/2/layout/IconCircleList"/>
    <dgm:cxn modelId="{E03C10AF-9507-7845-B3F8-03F1E19D58D6}" type="presParOf" srcId="{E0929C78-E0B3-44B5-964F-F676878733AE}" destId="{AC886667-5AF3-4190-9707-11AE3A8B5D2F}" srcOrd="1" destOrd="0" presId="urn:microsoft.com/office/officeart/2018/2/layout/IconCircleList"/>
    <dgm:cxn modelId="{1FD37594-3FAD-054D-BE08-53F6AE633955}" type="presParOf" srcId="{E0929C78-E0B3-44B5-964F-F676878733AE}" destId="{B471660E-EE44-4649-9DCB-5A2965FACD9D}" srcOrd="2" destOrd="0" presId="urn:microsoft.com/office/officeart/2018/2/layout/IconCircleList"/>
    <dgm:cxn modelId="{B447E96B-47A2-F04C-A6B3-C614DD8BAA26}" type="presParOf" srcId="{E0929C78-E0B3-44B5-964F-F676878733AE}" destId="{DE6429C4-9DEE-4B53-8DE5-D6F3E27C9FD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9F9E23-A4EA-404E-820A-2C64E41FCB42}">
      <dsp:nvSpPr>
        <dsp:cNvPr id="0" name=""/>
        <dsp:cNvSpPr/>
      </dsp:nvSpPr>
      <dsp:spPr>
        <a:xfrm>
          <a:off x="1623578" y="12279"/>
          <a:ext cx="974358" cy="9743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95822-9414-4492-80F7-C104EB72089F}">
      <dsp:nvSpPr>
        <dsp:cNvPr id="0" name=""/>
        <dsp:cNvSpPr/>
      </dsp:nvSpPr>
      <dsp:spPr>
        <a:xfrm>
          <a:off x="1828193" y="216894"/>
          <a:ext cx="565127" cy="5651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76586-8D8F-4A31-B49E-620403EFD2B3}">
      <dsp:nvSpPr>
        <dsp:cNvPr id="0" name=""/>
        <dsp:cNvSpPr/>
      </dsp:nvSpPr>
      <dsp:spPr>
        <a:xfrm>
          <a:off x="2806727" y="12279"/>
          <a:ext cx="2296701" cy="974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Die vier Versionen haben nicht die gleiche Klickrate.</a:t>
          </a:r>
        </a:p>
      </dsp:txBody>
      <dsp:txXfrm>
        <a:off x="2806727" y="12279"/>
        <a:ext cx="2296701" cy="974358"/>
      </dsp:txXfrm>
    </dsp:sp>
    <dsp:sp modelId="{CDAA276D-E492-43D5-B702-BA67797F15A4}">
      <dsp:nvSpPr>
        <dsp:cNvPr id="0" name=""/>
        <dsp:cNvSpPr/>
      </dsp:nvSpPr>
      <dsp:spPr>
        <a:xfrm>
          <a:off x="5503611" y="12279"/>
          <a:ext cx="974358" cy="9743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ED0B1C-2C6D-47D6-ACEF-0EA5971E8B23}">
      <dsp:nvSpPr>
        <dsp:cNvPr id="0" name=""/>
        <dsp:cNvSpPr/>
      </dsp:nvSpPr>
      <dsp:spPr>
        <a:xfrm>
          <a:off x="5708226" y="216894"/>
          <a:ext cx="565127" cy="5651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BE725-0AA7-4664-8944-77254DC78CAC}">
      <dsp:nvSpPr>
        <dsp:cNvPr id="0" name=""/>
        <dsp:cNvSpPr/>
      </dsp:nvSpPr>
      <dsp:spPr>
        <a:xfrm>
          <a:off x="6686760" y="12279"/>
          <a:ext cx="2296701" cy="974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Version C hat die höchste beobachtete CTR, der Vorsprung vor A ist aber nicht signifikant.</a:t>
          </a:r>
        </a:p>
      </dsp:txBody>
      <dsp:txXfrm>
        <a:off x="6686760" y="12279"/>
        <a:ext cx="2296701" cy="974358"/>
      </dsp:txXfrm>
    </dsp:sp>
    <dsp:sp modelId="{FF90C64C-8B7E-4C53-ABBD-C86543B02506}">
      <dsp:nvSpPr>
        <dsp:cNvPr id="0" name=""/>
        <dsp:cNvSpPr/>
      </dsp:nvSpPr>
      <dsp:spPr>
        <a:xfrm>
          <a:off x="1623578" y="1390802"/>
          <a:ext cx="974358" cy="9743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7CEB5-D84B-4E9A-B7A8-8FF51D60474B}">
      <dsp:nvSpPr>
        <dsp:cNvPr id="0" name=""/>
        <dsp:cNvSpPr/>
      </dsp:nvSpPr>
      <dsp:spPr>
        <a:xfrm>
          <a:off x="1828193" y="1595417"/>
          <a:ext cx="565127" cy="5651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777B3-AD0D-4EFB-9ED7-2046AFDB6978}">
      <dsp:nvSpPr>
        <dsp:cNvPr id="0" name=""/>
        <dsp:cNvSpPr/>
      </dsp:nvSpPr>
      <dsp:spPr>
        <a:xfrm>
          <a:off x="2806727" y="1390802"/>
          <a:ext cx="2296701" cy="974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Beide roten Varianten (B und D) liegen deutlich unter den weißen.</a:t>
          </a:r>
        </a:p>
      </dsp:txBody>
      <dsp:txXfrm>
        <a:off x="2806727" y="1390802"/>
        <a:ext cx="2296701" cy="974358"/>
      </dsp:txXfrm>
    </dsp:sp>
    <dsp:sp modelId="{ACCBDC40-BF2C-493B-97FD-378C015CDC6A}">
      <dsp:nvSpPr>
        <dsp:cNvPr id="0" name=""/>
        <dsp:cNvSpPr/>
      </dsp:nvSpPr>
      <dsp:spPr>
        <a:xfrm>
          <a:off x="5503611" y="1390802"/>
          <a:ext cx="974358" cy="9743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86667-5AF3-4190-9707-11AE3A8B5D2F}">
      <dsp:nvSpPr>
        <dsp:cNvPr id="0" name=""/>
        <dsp:cNvSpPr/>
      </dsp:nvSpPr>
      <dsp:spPr>
        <a:xfrm>
          <a:off x="5708226" y="1595417"/>
          <a:ext cx="565127" cy="5651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429C4-9DEE-4B53-8DE5-D6F3E27C9FD1}">
      <dsp:nvSpPr>
        <dsp:cNvPr id="0" name=""/>
        <dsp:cNvSpPr/>
      </dsp:nvSpPr>
      <dsp:spPr>
        <a:xfrm>
          <a:off x="6686760" y="1390802"/>
          <a:ext cx="2296701" cy="974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Version A hat die niedrigste Drop-off-Rate (~62 % vs. ~71 % bei C) und ist damit die Empfehlung.</a:t>
          </a:r>
        </a:p>
      </dsp:txBody>
      <dsp:txXfrm>
        <a:off x="6686760" y="1390802"/>
        <a:ext cx="2296701" cy="974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rPr dirty="0"/>
              <a:t>ENIAC A/B-TEST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D5DB"/>
                </a:solidFill>
              </a:defRPr>
            </a:pPr>
            <a:r>
              <a:rPr dirty="0"/>
              <a:t>CTA-Performance-Analyse über vier Website-Varianten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 dirty="0"/>
              <a:t>SHOP NOW vs. SEE DEALS  •  CTR  •  Chi-Quadrat  •  Post-hoc-Analyse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rPr dirty="0"/>
              <a:t>Basierend auf dem Eniac-A/B-Testing-Notebook  •  WBS Coding School  •  Data Science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Management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Empfehlung: Version A beibehalten (weiß, SHOP NOW)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1508760"/>
          </a:xfrm>
          <a:prstGeom prst="roundRect">
            <a:avLst/>
          </a:prstGeom>
          <a:solidFill>
            <a:srgbClr val="DCFCE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5819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HÖCHSTE BEOBACHTETE CTR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928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A34A"/>
                </a:solidFill>
              </a:defRPr>
            </a:pPr>
            <a:r>
              <a:t>2,12 %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Version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514600" cy="150876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5819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CTR KONTROLLGRUPPE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928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563EB"/>
                </a:solidFill>
              </a:defRPr>
            </a:pPr>
            <a:r>
              <a:t>2,02 %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Version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2514600" cy="1508760"/>
          </a:xfrm>
          <a:prstGeom prst="roundRect">
            <a:avLst/>
          </a:prstGeom>
          <a:solidFill>
            <a:srgbClr val="DCFCE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5819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GESAMTTEST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928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A34A"/>
                </a:solidFill>
              </a:defRPr>
            </a:pPr>
            <a:r>
              <a:t>p &lt; 0,001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χ² = 224,02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417320"/>
            <a:ext cx="2514600" cy="1508760"/>
          </a:xfrm>
          <a:prstGeom prst="roundRect">
            <a:avLst/>
          </a:prstGeom>
          <a:solidFill>
            <a:srgbClr val="FEE2E2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400" y="15819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C VS.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8928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DC2626"/>
                </a:solidFill>
              </a:defRPr>
            </a:pPr>
            <a:r>
              <a:t>p = 0,465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Nicht signifikant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2</a:t>
            </a:r>
          </a:p>
        </p:txBody>
      </p:sp>
      <p:graphicFrame>
        <p:nvGraphicFramePr>
          <p:cNvPr id="24" name="TextBox 20">
            <a:extLst>
              <a:ext uri="{FF2B5EF4-FFF2-40B4-BE49-F238E27FC236}">
                <a16:creationId xmlns:a16="http://schemas.microsoft.com/office/drawing/2014/main" id="{991B2518-5E49-D9CE-B830-380E76D3BD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6276424"/>
              </p:ext>
            </p:extLst>
          </p:nvPr>
        </p:nvGraphicFramePr>
        <p:xfrm>
          <a:off x="822960" y="3337560"/>
          <a:ext cx="10607040" cy="2377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Versuchsaufbau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085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Vier Website-Varianten und eine CTA-Hauptmetrik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148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VERSION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148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rPr dirty="0"/>
              <a:t>Weiß • SHOP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645920"/>
            <a:ext cx="2148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VERSION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148840"/>
            <a:ext cx="2148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rPr dirty="0"/>
              <a:t>Rot • SHOP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300" b="1">
                <a:solidFill>
                  <a:schemeClr val="bg1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VERSION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sz="1700" b="1">
                <a:solidFill>
                  <a:schemeClr val="bg1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Weiß • SEE DEALS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645920"/>
            <a:ext cx="2148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VERSION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148840"/>
            <a:ext cx="2148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rPr dirty="0"/>
              <a:t>Rot • SEE DEALS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</a:defRPr>
            </a:pPr>
            <a:r>
              <a:rPr dirty="0"/>
              <a:t>Hauptmetrik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82219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F2937"/>
                </a:solidFill>
              </a:defRPr>
            </a:pPr>
            <a:r>
              <a:rPr dirty="0"/>
              <a:t>CTR = Klicks / Visits ×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</a:defRPr>
            </a:pPr>
            <a:r>
              <a:t>Statistischer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572094"/>
            <a:ext cx="676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</a:defRPr>
            </a:pPr>
            <a:r>
              <a:rPr b="1" dirty="0"/>
              <a:t>Chi-Quadrat-Unabhängigkeitstest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rPr dirty="0"/>
              <a:t>Datenübersicht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Beobachtete Visits, Klicks und Nicht-Klicks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" y="1600200"/>
          <a:ext cx="9601200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2651760"/>
                <a:gridCol w="1463040"/>
                <a:gridCol w="1280160"/>
                <a:gridCol w="16459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Button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Visits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Klicks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Keine Klicks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CTR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Weiß • SHOP NOW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25.326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512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24.814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2,02 %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B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Rot • SHOP NOW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24.747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281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24.466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1,14 %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C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Weiß • SEE DEALS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24.876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527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24.349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2,12 %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Rot • SEE DEALS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25.233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193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25.040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0,76 %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80160" y="4434840"/>
            <a:ext cx="96012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280"/>
                </a:solidFill>
              </a:rPr>
              <a:t>Jede Version erhielt in 14 Tagen ~25.000 Visits – mehr als die laut Power-Analyse nötigen 19.784 pro Variante (80 % Power, 20 % MDE).</a:t>
            </a:r>
          </a:p>
          <a:p>
            <a:pPr algn="l"/>
            <a:r>
              <a:rPr sz="1300" b="0">
                <a:solidFill>
                  <a:srgbClr val="6B7280"/>
                </a:solidFill>
              </a:rPr>
              <a:t>Die Visits wurden aus dem Text ‚Snapshot information‘ extrahiert, die Klicks stammen aus der Zeile SHOP NOW / SEE DEALS.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Statistischer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Chi-Quadrat-Gesamttest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H₀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79" y="1449324"/>
            <a:ext cx="85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</a:defRPr>
            </a:pPr>
            <a:r>
              <a:t>Die Klickrate ist bei den Versionen A, B, C und D gleich.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344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rPr dirty="0"/>
              <a:t>Hₐ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0639" y="1870035"/>
            <a:ext cx="85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</a:defRPr>
            </a:pPr>
            <a:r>
              <a:rPr dirty="0"/>
              <a:t>Mindestens eine Version hat eine andere Klickrate.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2971800" cy="150876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2606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rPr sz="1400"/>
              <a:t>CHI-QUADRAT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387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563EB"/>
                </a:solidFill>
              </a:defRPr>
            </a:pPr>
            <a:r>
              <a:t>224,02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df 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063240"/>
            <a:ext cx="2971800" cy="1508760"/>
          </a:xfrm>
          <a:prstGeom prst="roundRect">
            <a:avLst/>
          </a:prstGeom>
          <a:solidFill>
            <a:srgbClr val="DCFCE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3227832"/>
            <a:ext cx="2606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rPr sz="1600"/>
              <a:t>P-WERT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387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A34A"/>
                </a:solidFill>
              </a:defRPr>
            </a:pPr>
            <a:r>
              <a:t>2,72 × 10⁻⁴⁸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114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α = 0,05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063240"/>
            <a:ext cx="2971800" cy="1508760"/>
          </a:xfrm>
          <a:prstGeom prst="roundRect">
            <a:avLst/>
          </a:prstGeom>
          <a:solidFill>
            <a:srgbClr val="FFC000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59" y="3227832"/>
            <a:ext cx="2606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rPr sz="1400" dirty="0"/>
              <a:t>ENTSCHEIDUNG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35387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A34A"/>
                </a:solidFill>
              </a:defRPr>
            </a:pPr>
            <a:r>
              <a:t>H₀ verwerfen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4114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CTRs unterscheiden sich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F2937"/>
                </a:solidFill>
              </a:defRPr>
            </a:pPr>
            <a:r>
              <a:rPr dirty="0"/>
              <a:t>Interpretation: Die beobachteten Unterschiede zwischen den vier Varianten lassen sich kaum durch reinen Zufall erklären.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Post-hoc-Paarvergleiche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rPr sz="1200" dirty="0"/>
              <a:t>Bonferroni-Korrektur für sechs Vergleiche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41732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rPr sz="2000" dirty="0"/>
              <a:t>Kernaussage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74903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A vs. C: nicht signifikant (korrigiertes p = 1,00).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Weiß schlägt Rot: A und C sind beide signifikant besser als B und D.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B vs. D: signifikant, D ist die schwächste Version.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Bonferroni-Schwelle: α = 0,05 / 6 = 0,00833.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417320"/>
          <a:ext cx="676656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1005840"/>
                <a:gridCol w="1463040"/>
                <a:gridCol w="164592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Vergleich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χ²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p-Wert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Korr. p (×6)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Signifikant?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A vs B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62,49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2,7 × 10⁻¹⁵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1,6 × 10⁻¹⁴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Ja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</a:rPr>
                        <a:t>A vs C</a:t>
                      </a:r>
                    </a:p>
                  </a:txBody>
                  <a:tcPr anchor="ctr" marL="109728" marR="109728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937"/>
                          </a:solidFill>
                        </a:rPr>
                        <a:t>0,53</a:t>
                      </a:r>
                    </a:p>
                  </a:txBody>
                  <a:tcPr anchor="ctr" marL="109728" marR="109728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937"/>
                          </a:solidFill>
                        </a:rPr>
                        <a:t>0,465</a:t>
                      </a:r>
                    </a:p>
                  </a:txBody>
                  <a:tcPr anchor="ctr" marL="109728" marR="109728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937"/>
                          </a:solidFill>
                        </a:rPr>
                        <a:t>1,00</a:t>
                      </a:r>
                    </a:p>
                  </a:txBody>
                  <a:tcPr anchor="ctr" marL="109728" marR="109728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</a:rPr>
                        <a:t>Nein</a:t>
                      </a:r>
                    </a:p>
                  </a:txBody>
                  <a:tcPr anchor="ctr" marL="109728" marR="109728">
                    <a:solidFill>
                      <a:srgbClr val="DBEA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A vs 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144,28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3,1 × 10⁻³³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1,8 × 10⁻³²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Ja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B vs C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74,23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7,0 × 10⁻¹⁸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4,2 × 10⁻¹⁷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Ja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B vs 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17,88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2,4 × 10⁻⁵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1,4 × 10⁻⁴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Ja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C vs 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161,12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6,5 × 10⁻³⁷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3,9 × 10⁻³⁶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Ja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846320"/>
            <a:ext cx="67665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</a:rPr>
              <a:t>Kein eindeutiger CTR-Sieger: A und C bleiben → Entscheidung über Sekundärmetriken.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Sekundärmetriken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CTR allein reicht nicht: Was passiert nach dem Klick?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98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rPr dirty="0"/>
              <a:t>Hinweis zu den Daten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6460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</a:defRPr>
            </a:pPr>
            <a:r>
              <a:rPr dirty="0" sz="1500"/>
              <a:t>Drop-off- und Homepage-Return-Raten stammen aus dem Bericht des Website-Teams im LMS (Werte aus den Grafiken abgelesen). Version B fehlt wegen eines Tracking-Fehlers. Blau = weißer Button, Rot = roter Button.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</a:defRPr>
            </a:pPr>
            <a:r>
              <a:rPr dirty="0"/>
              <a:t>A hat mit Abstand den niedrigsten Drop-off (~62 % vs. ~71 % bei C). Bei C kehren etwas weniger Nutzer zur Homepage zurück (4,7 % vs. 5,3 %).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7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48640" y="1280160"/>
          <a:ext cx="365760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297680" y="1280160"/>
          <a:ext cx="3657600" cy="31089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8046720" y="1280160"/>
          <a:ext cx="3657600" cy="31089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rPr dirty="0"/>
              <a:t>Entscheidung: Klick und Abschluss kombinieren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Abgeschlossene Conversions pro 1.000 Visits = CTR × (1 − Drop-off) × 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371600"/>
          <a:ext cx="62179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0" y="1554480"/>
            <a:ext cx="4206240" cy="210312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3657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</a:rPr>
              <a:t>A VS.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057400"/>
            <a:ext cx="36576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>
                <a:solidFill>
                  <a:srgbClr val="16A34A"/>
                </a:solidFill>
              </a:rPr>
              <a:t>+25 %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26080"/>
            <a:ext cx="3657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mehr abgeschlossene Conversions pro Visit mit Version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977639"/>
            <a:ext cx="42062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</a:rPr>
              <a:t>A: 7,7  •  C: 6,1  •  D: 2,4 pro 1.000 Visits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</a:rPr>
              <a:t>C gewinnt den Klick, verliert danach aber mehr Nutzer.</a:t>
            </a:r>
          </a:p>
          <a:p>
            <a:pPr algn="l"/>
            <a:r>
              <a:rPr sz="1300" b="0">
                <a:solidFill>
                  <a:srgbClr val="1F2937"/>
                </a:solidFill>
              </a:rPr>
              <a:t>Einschränkung: Sekundärmetriken sind nicht auf Signifikanz getestet.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Business-Interpretation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Was sich ableiten lässt – und was nicht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44805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Durch die Analyse belegt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074920" cy="44805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645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Statistisch nicht belegt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Die roten Varianten B und D haben eine deutlich niedrigere CTR als A/C.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Das Gesamtexperiment zeigt statistisch unterschiedliche CTRs.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A und C gehören beide zu den stärkeren Varianten.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A hat den niedrigsten Drop-off → rund 25 % mehr abgeschlossene Conversions als 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33172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Dass C bei der CTR besser ist als A, ist nicht belegt.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Der beobachtete Uplift von C gegenüber A liegt bei ~5 %, unter dem geplanten MDE von 20 %.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Drop-off- und Return-Raten sind Berichtswerte ohne Signifikanztest.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Der Umsatz pro Visit wurde nicht gemessen.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3C5FD"/>
                </a:solidFill>
              </a:defRPr>
            </a:pPr>
            <a: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Version A beibehalten (weiß, SHOP NOW): Rot verliert klar, „SEE DEALS“ schlägt A bei der CTR nicht, und A konvertiert nach dem Klick am besten.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3C5FD"/>
                </a:solidFill>
              </a:defRPr>
            </a:pPr>
            <a:r>
              <a:t>Die Belege im Überblick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χ²-Gesamttest: p ≈ 2,72 × 10⁻⁴⁸; A vs. C nicht signifikant (korr. p = 1,00)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CTR-Uplift von C gegenüber A ≈ 5 % vs. geplantem MDE von 20 %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A: niedrigster Drop-off (~62 %) → 7,7 vs. 6,1 Conversions pro 1.000 Visits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Nächste Schritte: rote Buttons verwerfen; optional Folgetest A vs. C mit Conversion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5989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Quelle: Eniac-AB-Testing-Notebook; Drop-off/Return: LMS-Bericht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549</Words>
  <Application>Microsoft Macintosh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Mehrnoosh Mohebbi</cp:lastModifiedBy>
  <cp:revision>2</cp:revision>
  <dcterms:created xsi:type="dcterms:W3CDTF">2013-01-27T09:14:16Z</dcterms:created>
  <dcterms:modified xsi:type="dcterms:W3CDTF">2026-09-23T13:40:35Z</dcterms:modified>
  <cp:category/>
</cp:coreProperties>
</file>